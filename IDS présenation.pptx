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7567720b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7567720b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7567720b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7567720b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Projet de systèmes distribués : simulation de routage SMS via un réseau d’antennes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Chaque antenne = entité distribuée indépendante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Communication via middleware → RabbitMQ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Problème central : </a:t>
            </a:r>
            <a:r>
              <a:rPr b="1" lang="en">
                <a:solidFill>
                  <a:schemeClr val="dk1"/>
                </a:solidFill>
              </a:rPr>
              <a:t>faire circuler un message dans un réseau distribué sans connaissance des autres entitées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7567720b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7567720b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Projet de systèmes distribués : simulation de routage SMS via un réseau d’antennes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Chaque antenne = entité distribuée indépendante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Communication via middleware → RabbitMQ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Problème central : </a:t>
            </a:r>
            <a:r>
              <a:rPr b="1" lang="en">
                <a:solidFill>
                  <a:schemeClr val="dk1"/>
                </a:solidFill>
              </a:rPr>
              <a:t>faire circuler un message dans un réseau distribué sans connaissance des autres entitées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7567720b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7567720b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Projet de systèmes distribués : simulation de routage SMS via un réseau d’antennes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Chaque antenne = entité distribuée indépendante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Communication via middleware → RabbitMQ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Problème central : </a:t>
            </a:r>
            <a:r>
              <a:rPr b="1" lang="en">
                <a:solidFill>
                  <a:schemeClr val="dk1"/>
                </a:solidFill>
              </a:rPr>
              <a:t>faire circuler un message dans un réseau distribué sans connaissance des autres entitées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7567720b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7567720b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À expliquer 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Antennes avec position + rayon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Téléphones connectés à une antenne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Communication seulement si couverture intersecte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7567720b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7567720b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À expliquer 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Antennes avec position + rayon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Téléphones connectés à une antenne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Communication seulement si couverture intersecte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7567720b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7567720b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À expliquer 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Antennes avec position + rayon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Téléphones connectés à une antenne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Communication seulement si couverture intersecte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7567720b0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7567720b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À insister 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Communication </a:t>
            </a:r>
            <a:r>
              <a:rPr b="1" lang="en">
                <a:solidFill>
                  <a:schemeClr val="dk1"/>
                </a:solidFill>
              </a:rPr>
              <a:t>100% asynchrone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Aucun appel direct entre entités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Message important 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👉 </a:t>
            </a:r>
            <a:r>
              <a:rPr lang="en">
                <a:solidFill>
                  <a:schemeClr val="dk1"/>
                </a:solidFill>
              </a:rPr>
              <a:t>découplage total = vrai système distribué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7567720b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7567720b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À expliquer simplement 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Chaque antenne a 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un </a:t>
            </a:r>
            <a:r>
              <a:rPr b="1" lang="en">
                <a:solidFill>
                  <a:schemeClr val="dk1"/>
                </a:solidFill>
              </a:rPr>
              <a:t>exchange fanout (ex-i)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une </a:t>
            </a:r>
            <a:r>
              <a:rPr b="1" lang="en">
                <a:solidFill>
                  <a:schemeClr val="dk1"/>
                </a:solidFill>
              </a:rPr>
              <a:t>queue personnelle (queue-i)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Principe 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Une antenne publie → toutes ses voisines reçoivent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Téléphone → publie sur son antenne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Réception via queue dédiée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7567720b0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7567720b0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7567720b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7567720b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7567720b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7567720b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Dire “Le système est correct, mais pas optimal”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7567720b0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7567720b0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À dire 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Chaque entité = JVM indépendante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Simulation réaliste d’un système distribué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7567720b0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7567720b0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7970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aux Systèmes Distribués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175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Routage de messages SMS sur un réseau d’antennes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050" y="2742800"/>
            <a:ext cx="4267901" cy="24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62" name="Google Shape;62;p14"/>
          <p:cNvSpPr txBox="1"/>
          <p:nvPr>
            <p:ph idx="4294967295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Contexte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Problème et Modélisation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Architecture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RabbitMQ &amp; Topologie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Algorithme de routage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Problème : boucles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Choix </a:t>
            </a:r>
            <a:r>
              <a:rPr lang="en">
                <a:solidFill>
                  <a:schemeClr val="dk1"/>
                </a:solidFill>
              </a:rPr>
              <a:t>techniques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Limites du système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Démonstration 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Conclusion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36225"/>
            <a:ext cx="1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Contexte :</a:t>
            </a:r>
            <a:endParaRPr/>
          </a:p>
        </p:txBody>
      </p:sp>
      <p:pic>
        <p:nvPicPr>
          <p:cNvPr id="68" name="Google Shape;68;p15" title="Diagramme sans nom1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9412" y="362625"/>
            <a:ext cx="3867913" cy="420624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322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Points clés: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Antenne et téléphones         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 →  Entités distribuées indépendantes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Communication via middleware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 →  RabbitMQ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36225"/>
            <a:ext cx="1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Contexte :</a:t>
            </a:r>
            <a:endParaRPr/>
          </a:p>
        </p:txBody>
      </p:sp>
      <p:pic>
        <p:nvPicPr>
          <p:cNvPr id="75" name="Google Shape;75;p16" title="Diagramme sans nom1_highlight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9388" y="366425"/>
            <a:ext cx="3867013" cy="420244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322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Points clés: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Antenne et téléphones         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 → </a:t>
            </a:r>
            <a:r>
              <a:rPr lang="en" sz="1400">
                <a:solidFill>
                  <a:srgbClr val="000000"/>
                </a:solidFill>
              </a:rPr>
              <a:t> Entités distribuées indépendantes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Communication via </a:t>
            </a:r>
            <a:r>
              <a:rPr lang="en" sz="1400">
                <a:solidFill>
                  <a:srgbClr val="000000"/>
                </a:solidFill>
              </a:rPr>
              <a:t>m</a:t>
            </a:r>
            <a:r>
              <a:rPr lang="en" sz="1400">
                <a:solidFill>
                  <a:srgbClr val="000000"/>
                </a:solidFill>
              </a:rPr>
              <a:t>iddleware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 →  RabbitMQ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36225"/>
            <a:ext cx="1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Contexte :</a:t>
            </a:r>
            <a:endParaRPr/>
          </a:p>
        </p:txBody>
      </p:sp>
      <p:pic>
        <p:nvPicPr>
          <p:cNvPr id="82" name="Google Shape;82;p17" title="Diagramme sans nom1_highlight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9388" y="366425"/>
            <a:ext cx="3867013" cy="420244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322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Points clés: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Antenne et téléphones         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→  Entités distribuées indépendantes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Communication via middleware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→  RabbitMQ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4568875"/>
            <a:ext cx="8520600" cy="4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Problème : Comment faire pour qu’un SMS trouve son chemin sans connaitre la topologie du réseau 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diag_illustraion_coords_rayon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463" y="1003725"/>
            <a:ext cx="3035808" cy="346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diag_illustraion_coords_rayon_wrong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6763" y="1003738"/>
            <a:ext cx="3038475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36225"/>
            <a:ext cx="477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Problème et Modélisation </a:t>
            </a:r>
            <a:r>
              <a:rPr lang="en" sz="2500"/>
              <a:t>:</a:t>
            </a:r>
            <a:endParaRPr sz="2500"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125475" y="4510650"/>
            <a:ext cx="53145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lang="en" sz="1100">
                <a:solidFill>
                  <a:schemeClr val="dk1"/>
                </a:solidFill>
              </a:rPr>
              <a:t>Communication possible entre les 2 antennes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4886775" y="4510650"/>
            <a:ext cx="36477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❌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Communication impossible entre les 2 antennes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1125475" y="652138"/>
            <a:ext cx="32277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Intersection des couverture des antennes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886775" y="652138"/>
            <a:ext cx="32277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Non-</a:t>
            </a:r>
            <a:r>
              <a:rPr lang="en">
                <a:solidFill>
                  <a:schemeClr val="dk1"/>
                </a:solidFill>
              </a:rPr>
              <a:t>Intersection des couverture des antennes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diag_illustraion_coords_rayon.drawio.png"/>
          <p:cNvPicPr preferRelativeResize="0"/>
          <p:nvPr/>
        </p:nvPicPr>
        <p:blipFill rotWithShape="1">
          <a:blip r:embed="rId3">
            <a:alphaModFix/>
          </a:blip>
          <a:srcRect b="3720" l="0" r="0" t="3730"/>
          <a:stretch/>
        </p:blipFill>
        <p:spPr>
          <a:xfrm>
            <a:off x="4886763" y="1003738"/>
            <a:ext cx="3038475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36225"/>
            <a:ext cx="477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Problème et Modélisation :</a:t>
            </a:r>
            <a:endParaRPr sz="2500"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4886775" y="4511413"/>
            <a:ext cx="32277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Communication possible entre les 2 antennes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4886775" y="652138"/>
            <a:ext cx="32277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Intersection des couverture des antennes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3918900" cy="18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Points clés: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Graphe implicite basé sur la géométrie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Pas de connexion directe globale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Réseau distribué (pas de mémoire partagée)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 title="diag_illustraion_coords_rayon.drawio.png"/>
          <p:cNvPicPr preferRelativeResize="0"/>
          <p:nvPr/>
        </p:nvPicPr>
        <p:blipFill rotWithShape="1">
          <a:blip r:embed="rId3">
            <a:alphaModFix/>
          </a:blip>
          <a:srcRect b="3720" l="0" r="0" t="3730"/>
          <a:stretch/>
        </p:blipFill>
        <p:spPr>
          <a:xfrm>
            <a:off x="4886763" y="1003738"/>
            <a:ext cx="3038475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36225"/>
            <a:ext cx="477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Problème et Modélisation :</a:t>
            </a:r>
            <a:endParaRPr sz="2500"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4886775" y="4511425"/>
            <a:ext cx="39747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lang="en" sz="1100">
                <a:solidFill>
                  <a:schemeClr val="dk1"/>
                </a:solidFill>
              </a:rPr>
              <a:t>Communication possible entre les 2 antennes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4886775" y="652138"/>
            <a:ext cx="32277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Intersection des couverture des antennes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3918900" cy="18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Points clés: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Graphe implicite basé sur la géométrie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Pas de connexion directe globale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Réseau distribué (pas de mémoire partagée)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2954975"/>
            <a:ext cx="3918900" cy="18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Idée principale 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</a:rPr>
              <a:t>Faire du routage sans route prédéfinie 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36225"/>
            <a:ext cx="477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Architecture </a:t>
            </a:r>
            <a:r>
              <a:rPr lang="en" sz="2500"/>
              <a:t>:</a:t>
            </a:r>
            <a:endParaRPr sz="2500"/>
          </a:p>
        </p:txBody>
      </p:sp>
      <p:sp>
        <p:nvSpPr>
          <p:cNvPr id="120" name="Google Shape;120;p21"/>
          <p:cNvSpPr txBox="1"/>
          <p:nvPr/>
        </p:nvSpPr>
        <p:spPr>
          <a:xfrm>
            <a:off x="44100" y="898800"/>
            <a:ext cx="30000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Les 4 entités 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Antennes (processus Java)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Téléphones (clients)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RabbitMQ (middleware)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Packet (SMS)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3818200" y="44634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Aucun appel direct entre les entités </a:t>
            </a:r>
            <a:endParaRPr/>
          </a:p>
        </p:txBody>
      </p:sp>
      <p:pic>
        <p:nvPicPr>
          <p:cNvPr id="122" name="Google Shape;122;p21" title="Diagramme sans nom5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8675" y="608925"/>
            <a:ext cx="5799061" cy="364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importa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0150" y="4307303"/>
            <a:ext cx="413550" cy="41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0" y="4117550"/>
            <a:ext cx="26049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Antennes et t</a:t>
            </a:r>
            <a:r>
              <a:rPr lang="en" sz="1100">
                <a:solidFill>
                  <a:schemeClr val="dk1"/>
                </a:solidFill>
              </a:rPr>
              <a:t>éléphones</a:t>
            </a:r>
            <a:r>
              <a:rPr lang="en" sz="1100">
                <a:solidFill>
                  <a:schemeClr val="dk1"/>
                </a:solidFill>
              </a:rPr>
              <a:t> basées sur 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Un f</a:t>
            </a:r>
            <a:r>
              <a:rPr lang="en" sz="1100">
                <a:solidFill>
                  <a:schemeClr val="dk1"/>
                </a:solidFill>
              </a:rPr>
              <a:t>ichier de configuration globale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36225"/>
            <a:ext cx="780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RabbitMQ &amp; Topologie (A0-A1-A2 simple) </a:t>
            </a:r>
            <a:r>
              <a:rPr lang="en" sz="2500"/>
              <a:t>:</a:t>
            </a:r>
            <a:endParaRPr sz="2500"/>
          </a:p>
        </p:txBody>
      </p:sp>
      <p:pic>
        <p:nvPicPr>
          <p:cNvPr id="130" name="Google Shape;130;p22" title="schema_queu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363" y="608925"/>
            <a:ext cx="7969281" cy="422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36225"/>
            <a:ext cx="477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Algorithme de routage</a:t>
            </a:r>
            <a:br>
              <a:rPr lang="en" sz="2500"/>
            </a:br>
            <a:r>
              <a:rPr lang="en" sz="2500"/>
              <a:t>Toujours A0-A1-A2</a:t>
            </a:r>
            <a:endParaRPr sz="2500"/>
          </a:p>
        </p:txBody>
      </p:sp>
      <p:pic>
        <p:nvPicPr>
          <p:cNvPr id="136" name="Google Shape;136;p23" title="Schema_routage_sm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4775" y="533700"/>
            <a:ext cx="4864850" cy="4609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/>
        </p:nvSpPr>
        <p:spPr>
          <a:xfrm>
            <a:off x="4797200" y="208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Broadcast Flooding + Déduplication </a:t>
            </a:r>
            <a:endParaRPr/>
          </a:p>
        </p:txBody>
      </p:sp>
      <p:sp>
        <p:nvSpPr>
          <p:cNvPr id="138" name="Google Shape;138;p23"/>
          <p:cNvSpPr txBox="1"/>
          <p:nvPr/>
        </p:nvSpPr>
        <p:spPr>
          <a:xfrm>
            <a:off x="260150" y="1211525"/>
            <a:ext cx="56727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Quand une antenne reçoit un message 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Vérifie si elle a déjà vu la clé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(from, msgId)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dans une ConcurrentHashMap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Si destinataire local → délivre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Sinon → diffuse à toutes les antennes voisines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311700" y="2571750"/>
            <a:ext cx="44469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Problème à cause des boucles d’envoi 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Si la clé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(from, msgId)</a:t>
            </a:r>
            <a:r>
              <a:rPr lang="en" sz="1100">
                <a:solidFill>
                  <a:schemeClr val="dk1"/>
                </a:solidFill>
              </a:rPr>
              <a:t> existe dans </a:t>
            </a:r>
            <a:r>
              <a:rPr lang="en" sz="1100">
                <a:solidFill>
                  <a:srgbClr val="980000"/>
                </a:solidFill>
                <a:latin typeface="Roboto Mono"/>
                <a:ea typeface="Roboto Mono"/>
                <a:cs typeface="Roboto Mono"/>
                <a:sym typeface="Roboto Mono"/>
              </a:rPr>
              <a:t>ConcurrentHashMap </a:t>
            </a:r>
            <a:r>
              <a:rPr lang="en" sz="1100">
                <a:solidFill>
                  <a:srgbClr val="980000"/>
                </a:solidFill>
                <a:latin typeface="Roboto Mono"/>
                <a:ea typeface="Roboto Mono"/>
                <a:cs typeface="Roboto Mono"/>
                <a:sym typeface="Roboto Mono"/>
              </a:rPr>
              <a:t>seenMessages</a:t>
            </a:r>
            <a:r>
              <a:rPr lang="en" sz="1100">
                <a:solidFill>
                  <a:schemeClr val="dk1"/>
                </a:solidFill>
              </a:rPr>
              <a:t>  le message n’est pas renvoyé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148675" y="3737275"/>
            <a:ext cx="4936800" cy="20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Point important 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On accepte la redondance mais on élimine les duplicatats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36225"/>
            <a:ext cx="477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Choix techniques </a:t>
            </a:r>
            <a:r>
              <a:rPr lang="en" sz="2500"/>
              <a:t> :</a:t>
            </a:r>
            <a:endParaRPr sz="2500"/>
          </a:p>
        </p:txBody>
      </p:sp>
      <p:sp>
        <p:nvSpPr>
          <p:cNvPr id="146" name="Google Shape;146;p24"/>
          <p:cNvSpPr txBox="1"/>
          <p:nvPr/>
        </p:nvSpPr>
        <p:spPr>
          <a:xfrm>
            <a:off x="1198650" y="639200"/>
            <a:ext cx="3000000" cy="13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RabbitMQ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Message broker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</a:t>
            </a:r>
            <a:r>
              <a:rPr lang="en" sz="1100">
                <a:solidFill>
                  <a:schemeClr val="dk1"/>
                </a:solidFill>
              </a:rPr>
              <a:t>ersistance des messages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Asynchrone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Tolérance aux pannes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1198650" y="1997575"/>
            <a:ext cx="30000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Fanout exchanges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Découplage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Simplicité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1198650" y="2966550"/>
            <a:ext cx="30000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Broadcast Flooding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Facile à implémenter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Pas besoin de consensus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1198650" y="3905525"/>
            <a:ext cx="5581500" cy="1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Comparaison  avec un Spanning Tree :</a:t>
            </a:r>
            <a:endParaRPr b="1" sz="1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❌</a:t>
            </a:r>
            <a:r>
              <a:rPr lang="en" sz="1100">
                <a:solidFill>
                  <a:schemeClr val="dk1"/>
                </a:solidFill>
              </a:rPr>
              <a:t> Spanning tree → complexe (consensus entre les entitées)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Flooding → simple mais coûteux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5750" y="1542775"/>
            <a:ext cx="2586436" cy="36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311700" y="36225"/>
            <a:ext cx="542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Limites de notre implémentation :</a:t>
            </a:r>
            <a:endParaRPr sz="2500"/>
          </a:p>
        </p:txBody>
      </p:sp>
      <p:sp>
        <p:nvSpPr>
          <p:cNvPr id="156" name="Google Shape;156;p25"/>
          <p:cNvSpPr txBox="1"/>
          <p:nvPr/>
        </p:nvSpPr>
        <p:spPr>
          <a:xfrm>
            <a:off x="884400" y="981075"/>
            <a:ext cx="4855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Pas de mobilité des téléphones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Réseau statique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Pas de gestion de pannes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Flooding → </a:t>
            </a:r>
            <a:r>
              <a:rPr b="1" lang="en">
                <a:solidFill>
                  <a:schemeClr val="dk1"/>
                </a:solidFill>
              </a:rPr>
              <a:t>pas scalable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RabbitMQ limité à localhost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36225"/>
            <a:ext cx="542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500"/>
              <a:t>Démonstration</a:t>
            </a:r>
            <a:r>
              <a:rPr lang="en" sz="2500"/>
              <a:t> :</a:t>
            </a:r>
            <a:endParaRPr sz="2500"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325" y="608925"/>
            <a:ext cx="5995340" cy="422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36225"/>
            <a:ext cx="542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500"/>
              <a:t>Conclusion</a:t>
            </a:r>
            <a:r>
              <a:rPr lang="en" sz="2500"/>
              <a:t> :</a:t>
            </a:r>
            <a:endParaRPr sz="2500"/>
          </a:p>
        </p:txBody>
      </p:sp>
      <p:sp>
        <p:nvSpPr>
          <p:cNvPr id="168" name="Google Shape;168;p27"/>
          <p:cNvSpPr txBox="1"/>
          <p:nvPr/>
        </p:nvSpPr>
        <p:spPr>
          <a:xfrm>
            <a:off x="973675" y="1062900"/>
            <a:ext cx="4282800" cy="29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Ce que nous avons appris 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Communication distribuée réelle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Mise en place d’un routage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Middleware messaging (++)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Design d’architecture distribuée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Améliorations </a:t>
            </a:r>
            <a:r>
              <a:rPr b="1" lang="en" sz="1300">
                <a:solidFill>
                  <a:schemeClr val="dk1"/>
                </a:solidFill>
              </a:rPr>
              <a:t>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Réseau dynamique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Téléphones peuvent se déplacer via un terminal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Multi-machines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Implémenter </a:t>
            </a:r>
            <a:r>
              <a:rPr lang="en" sz="1300">
                <a:solidFill>
                  <a:schemeClr val="dk1"/>
                </a:solidFill>
              </a:rPr>
              <a:t>Adaptive Routing Algorithms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